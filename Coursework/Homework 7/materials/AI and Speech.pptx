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  <p:sldMasterId id="214748367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5a1a20b8e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a5a1a20b8e_3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a5a1a20b8e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3a5a1a20b8e_2_7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a5a1a20b8e_3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3a5a1a20b8e_3_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a5a1a20b8e_3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a5a1a20b8e_3_2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a5a1a20b8e_2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g3a5a1a20b8e_2_8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a5a1a20b8e_3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3a5a1a20b8e_3_2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a5a1a20b8e_2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a5a1a20b8e_2_9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a5a1a20b8e_3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3a5a1a20b8e_3_5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a5a1a20b8e_3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g3a5a1a20b8e_3_5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a5a1a20b8e_3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g3a5a1a20b8e_3_6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a5a1a20b8e_3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g3a5a1a20b8e_3_6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5a1a20b8e_3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g3a5a1a20b8e_3_8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a5a6936d0d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a5a6936d0d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a5a1a20b8e_2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3a5a1a20b8e_2_10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a5a1a20b8e_2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g3a5a1a20b8e_2_10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a5a1a20b8e_2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g3a5a1a20b8e_2_11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a5a1a20b8e_3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g3a5a1a20b8e_3_7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a5a1a20b8e_2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g3a5a1a20b8e_2_11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a5a6936d0d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a5a6936d0d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a5a6936d0d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a5a6936d0d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722313" y="3305175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7" name="Google Shape;77;p17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1" type="body"/>
          </p:nvPr>
        </p:nvSpPr>
        <p:spPr>
          <a:xfrm>
            <a:off x="457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83" name="Google Shape;83;p18"/>
          <p:cNvSpPr txBox="1"/>
          <p:nvPr>
            <p:ph idx="2" type="body"/>
          </p:nvPr>
        </p:nvSpPr>
        <p:spPr>
          <a:xfrm>
            <a:off x="4648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84" name="Google Shape;84;p18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8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9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90" name="Google Shape;90;p19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91" name="Google Shape;91;p19"/>
          <p:cNvSpPr txBox="1"/>
          <p:nvPr>
            <p:ph idx="3" type="body"/>
          </p:nvPr>
        </p:nvSpPr>
        <p:spPr>
          <a:xfrm>
            <a:off x="4645025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92" name="Google Shape;92;p19"/>
          <p:cNvSpPr txBox="1"/>
          <p:nvPr>
            <p:ph idx="4" type="body"/>
          </p:nvPr>
        </p:nvSpPr>
        <p:spPr>
          <a:xfrm>
            <a:off x="4645025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93" name="Google Shape;93;p19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9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0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0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1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2"/>
          <p:cNvSpPr txBox="1"/>
          <p:nvPr>
            <p:ph type="title"/>
          </p:nvPr>
        </p:nvSpPr>
        <p:spPr>
          <a:xfrm>
            <a:off x="457200" y="204788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2"/>
          <p:cNvSpPr txBox="1"/>
          <p:nvPr>
            <p:ph idx="1" type="body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08" name="Google Shape;108;p22"/>
          <p:cNvSpPr txBox="1"/>
          <p:nvPr>
            <p:ph idx="2" type="body"/>
          </p:nvPr>
        </p:nvSpPr>
        <p:spPr>
          <a:xfrm>
            <a:off x="457200" y="1076325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09" name="Google Shape;109;p22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2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3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3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2874764" y="-1217414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>
            <p:ph type="title"/>
          </p:nvPr>
        </p:nvSpPr>
        <p:spPr>
          <a:xfrm rot="5400000">
            <a:off x="5463778" y="1371600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5"/>
          <p:cNvSpPr txBox="1"/>
          <p:nvPr>
            <p:ph idx="1" type="body"/>
          </p:nvPr>
        </p:nvSpPr>
        <p:spPr>
          <a:xfrm rot="5400000">
            <a:off x="1272778" y="-609600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8" name="Google Shape;128;p25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25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5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2" Type="http://schemas.openxmlformats.org/officeDocument/2006/relationships/theme" Target="../theme/theme3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archive.org/details/voder1939" TargetMode="External"/><Relationship Id="rId4" Type="http://schemas.openxmlformats.org/officeDocument/2006/relationships/image" Target="../media/image8.png"/><Relationship Id="rId5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hyperlink" Target="http://drive.google.com/file/d/1iNS-avmItukpCbKCQXsDbubX7aW4ZgYz/view" TargetMode="External"/><Relationship Id="rId5" Type="http://schemas.openxmlformats.org/officeDocument/2006/relationships/image" Target="../media/image1.png"/><Relationship Id="rId6" Type="http://schemas.openxmlformats.org/officeDocument/2006/relationships/hyperlink" Target="http://drive.google.com/file/d/14f0491EmFZtLo5HqOIjq2Xnl57LKFvKK/view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hyperlink" Target="https://deepmind.google/blog/wavenet-a-generative-model-for-raw-audio/" TargetMode="External"/><Relationship Id="rId5" Type="http://schemas.openxmlformats.org/officeDocument/2006/relationships/hyperlink" Target="https://arxiv.org/pdf/1609.03499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hyperlink" Target="https://arxiv.org/pdf/1703.10135" TargetMode="External"/><Relationship Id="rId5" Type="http://schemas.openxmlformats.org/officeDocument/2006/relationships/hyperlink" Target="https://arxiv.org/pdf/1712.05884" TargetMode="External"/><Relationship Id="rId6" Type="http://schemas.openxmlformats.org/officeDocument/2006/relationships/hyperlink" Target="https://google.github.io/tacotron/publications/tacotron2/index.html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jaywalnut310.github.io/vits/" TargetMode="External"/><Relationship Id="rId4" Type="http://schemas.openxmlformats.org/officeDocument/2006/relationships/hyperlink" Target="https://arxiv.org/pdf/2106.06103" TargetMode="External"/><Relationship Id="rId5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github.com/OHF-Voice/piper1-gpl" TargetMode="External"/><Relationship Id="rId4" Type="http://schemas.openxmlformats.org/officeDocument/2006/relationships/hyperlink" Target="https://rhasspy.github.io/piper-samples/" TargetMode="External"/><Relationship Id="rId5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/>
          <p:nvPr>
            <p:ph type="ctrTitle"/>
          </p:nvPr>
        </p:nvSpPr>
        <p:spPr>
          <a:xfrm>
            <a:off x="311708" y="558431"/>
            <a:ext cx="8520600" cy="1539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and Speech</a:t>
            </a:r>
            <a:endParaRPr/>
          </a:p>
        </p:txBody>
      </p:sp>
      <p:sp>
        <p:nvSpPr>
          <p:cNvPr id="136" name="Google Shape;136;p26"/>
          <p:cNvSpPr txBox="1"/>
          <p:nvPr>
            <p:ph idx="1" type="subTitle"/>
          </p:nvPr>
        </p:nvSpPr>
        <p:spPr>
          <a:xfrm>
            <a:off x="311700" y="2125603"/>
            <a:ext cx="8520600" cy="9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">
                <a:solidFill>
                  <a:srgbClr val="888888"/>
                </a:solidFill>
              </a:rPr>
              <a:t>From Early Synthesis to Modern TTS</a:t>
            </a:r>
            <a:endParaRPr/>
          </a:p>
        </p:txBody>
      </p:sp>
      <p:sp>
        <p:nvSpPr>
          <p:cNvPr id="137" name="Google Shape;137;p26"/>
          <p:cNvSpPr txBox="1"/>
          <p:nvPr/>
        </p:nvSpPr>
        <p:spPr>
          <a:xfrm>
            <a:off x="457200" y="4594860"/>
            <a:ext cx="8229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Ross Reedstrom  - 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</a:t>
            </a: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Speech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7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&amp; Speech: Overview</a:t>
            </a:r>
            <a:endParaRPr/>
          </a:p>
        </p:txBody>
      </p:sp>
      <p:sp>
        <p:nvSpPr>
          <p:cNvPr id="143" name="Google Shape;143;p27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2766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/>
              <a:t>Why Speech?</a:t>
            </a:r>
            <a:endParaRPr/>
          </a:p>
          <a:p>
            <a:pPr indent="-32766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"/>
              <a:t>ML and speech:</a:t>
            </a:r>
            <a:endParaRPr/>
          </a:p>
          <a:p>
            <a:pPr indent="-277177" lvl="1" marL="742950" rtl="0" algn="l">
              <a:spcBef>
                <a:spcPts val="640"/>
              </a:spcBef>
              <a:spcAft>
                <a:spcPts val="0"/>
              </a:spcAft>
              <a:buSzPct val="64285"/>
              <a:buChar char="–"/>
            </a:pPr>
            <a:r>
              <a:rPr lang="en"/>
              <a:t>Speaker recognition</a:t>
            </a:r>
            <a:endParaRPr/>
          </a:p>
          <a:p>
            <a:pPr indent="-277177" lvl="1" marL="742950" rtl="0" algn="l">
              <a:spcBef>
                <a:spcPts val="640"/>
              </a:spcBef>
              <a:spcAft>
                <a:spcPts val="0"/>
              </a:spcAft>
              <a:buSzPct val="64285"/>
              <a:buChar char="–"/>
            </a:pPr>
            <a:r>
              <a:rPr lang="en"/>
              <a:t>Transcription</a:t>
            </a:r>
            <a:endParaRPr/>
          </a:p>
          <a:p>
            <a:pPr indent="-277177" lvl="1" marL="742950" rtl="0" algn="l">
              <a:spcBef>
                <a:spcPts val="640"/>
              </a:spcBef>
              <a:spcAft>
                <a:spcPts val="0"/>
              </a:spcAft>
              <a:buSzPct val="64285"/>
              <a:buChar char="–"/>
            </a:pPr>
            <a:r>
              <a:rPr lang="en"/>
              <a:t>Voice command</a:t>
            </a:r>
            <a:endParaRPr/>
          </a:p>
          <a:p>
            <a:pPr indent="-277177" lvl="1" marL="742950" rtl="0" algn="l">
              <a:spcBef>
                <a:spcPts val="640"/>
              </a:spcBef>
              <a:spcAft>
                <a:spcPts val="0"/>
              </a:spcAft>
              <a:buSzPct val="64285"/>
              <a:buChar char="–"/>
            </a:pPr>
            <a:r>
              <a:rPr lang="en"/>
              <a:t>Text to speech</a:t>
            </a:r>
            <a:endParaRPr/>
          </a:p>
          <a:p>
            <a:pPr indent="-32766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Today: history → ecosystems → Piper retraining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8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History of Speech Synthesis</a:t>
            </a:r>
            <a:endParaRPr/>
          </a:p>
        </p:txBody>
      </p:sp>
      <p:sp>
        <p:nvSpPr>
          <p:cNvPr id="149" name="Google Shape;149;p28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8"/>
          <p:cNvSpPr txBox="1"/>
          <p:nvPr/>
        </p:nvSpPr>
        <p:spPr>
          <a:xfrm>
            <a:off x="457200" y="4594860"/>
            <a:ext cx="8229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Ross Reedstrom  - 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and Speech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9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1939 Voder</a:t>
            </a:r>
            <a:endParaRPr/>
          </a:p>
        </p:txBody>
      </p:sp>
      <p:sp>
        <p:nvSpPr>
          <p:cNvPr id="156" name="Google Shape;156;p29"/>
          <p:cNvSpPr txBox="1"/>
          <p:nvPr>
            <p:ph idx="1" type="body"/>
          </p:nvPr>
        </p:nvSpPr>
        <p:spPr>
          <a:xfrm>
            <a:off x="457200" y="1200150"/>
            <a:ext cx="2431500" cy="34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" sz="2400"/>
              <a:t>First publicly demonstrated speech synthesizer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 u="sng">
                <a:solidFill>
                  <a:schemeClr val="hlink"/>
                </a:solidFill>
                <a:hlinkClick r:id="rId3"/>
              </a:rPr>
              <a:t>Voder in action</a:t>
            </a:r>
            <a:endParaRPr sz="2400"/>
          </a:p>
          <a:p>
            <a:pPr indent="0" lvl="0" marL="3429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157" name="Google Shape;157;p29"/>
          <p:cNvSpPr txBox="1"/>
          <p:nvPr/>
        </p:nvSpPr>
        <p:spPr>
          <a:xfrm>
            <a:off x="457200" y="4594860"/>
            <a:ext cx="82296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Ross Reedstrom  - Text to Speech</a:t>
            </a:r>
            <a:endParaRPr/>
          </a:p>
        </p:txBody>
      </p:sp>
      <p:pic>
        <p:nvPicPr>
          <p:cNvPr id="158" name="Google Shape;158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2548" y="3482900"/>
            <a:ext cx="1575280" cy="111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22740" y="1285225"/>
            <a:ext cx="5231621" cy="301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0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HMM Era (1970s–2010s)</a:t>
            </a:r>
            <a:endParaRPr/>
          </a:p>
        </p:txBody>
      </p:sp>
      <p:sp>
        <p:nvSpPr>
          <p:cNvPr id="165" name="Google Shape;165;p30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Hidden Markov Models for speech recognition and parametric TTS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GMMs model acoustic frames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Foundation for statistical sequence modeling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1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Concatenative &amp; HTS</a:t>
            </a:r>
            <a:endParaRPr/>
          </a:p>
        </p:txBody>
      </p:sp>
      <p:sp>
        <p:nvSpPr>
          <p:cNvPr id="171" name="Google Shape;171;p31"/>
          <p:cNvSpPr txBox="1"/>
          <p:nvPr>
            <p:ph idx="1" type="body"/>
          </p:nvPr>
        </p:nvSpPr>
        <p:spPr>
          <a:xfrm>
            <a:off x="237525" y="1200375"/>
            <a:ext cx="27192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" sz="2400"/>
              <a:t>Hidden Markov Models  - HMM Text to Speech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1200"/>
              </a:spcAft>
              <a:buNone/>
            </a:pPr>
            <a:r>
              <a:rPr lang="en" sz="2400"/>
              <a:t>Parametric and </a:t>
            </a:r>
            <a:r>
              <a:rPr lang="en" sz="2400"/>
              <a:t>Concatenative unit‑selection 1990s–2000s</a:t>
            </a:r>
            <a:endParaRPr/>
          </a:p>
        </p:txBody>
      </p:sp>
      <p:sp>
        <p:nvSpPr>
          <p:cNvPr id="172" name="Google Shape;172;p31"/>
          <p:cNvSpPr txBox="1"/>
          <p:nvPr/>
        </p:nvSpPr>
        <p:spPr>
          <a:xfrm>
            <a:off x="457200" y="4594860"/>
            <a:ext cx="82296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Ross Reedstrom  - Text to Speech</a:t>
            </a:r>
            <a:endParaRPr/>
          </a:p>
        </p:txBody>
      </p:sp>
      <p:pic>
        <p:nvPicPr>
          <p:cNvPr id="173" name="Google Shape;17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2250" y="909873"/>
            <a:ext cx="5363151" cy="382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31" title="slt_hts.wav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7076" y="405452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31" title="fest_units.wav">
            <a:hlinkClick r:id="rId6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3376" y="4054529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2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Deep Learning Era (2010–present)</a:t>
            </a:r>
            <a:endParaRPr/>
          </a:p>
        </p:txBody>
      </p:sp>
      <p:sp>
        <p:nvSpPr>
          <p:cNvPr id="181" name="Google Shape;181;p32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CNN/RNN/Transformer ASR</a:t>
            </a:r>
            <a:endParaRPr/>
          </a:p>
          <a:p>
            <a:pPr indent="-431800" lvl="0" marL="342900" rtl="0" algn="l"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"/>
              <a:t>WaveNet</a:t>
            </a:r>
            <a:endParaRPr/>
          </a:p>
          <a:p>
            <a:pPr indent="-431800" lvl="0" marL="342900" rtl="0" algn="l"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"/>
              <a:t>Tacotron</a:t>
            </a:r>
            <a:endParaRPr/>
          </a:p>
          <a:p>
            <a:pPr indent="-431800" lvl="0" marL="342900" rtl="0" algn="l"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"/>
              <a:t>VITS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Neural Text‑to‑Speech</a:t>
            </a:r>
            <a:endParaRPr/>
          </a:p>
        </p:txBody>
      </p:sp>
      <p:sp>
        <p:nvSpPr>
          <p:cNvPr id="187" name="Google Shape;187;p33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WaveNet - autoregressive generative audio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Tacotron - neural text‑to‑mel + vocoder architectures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VITS - conditional variational autoencoder with adversarial training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33"/>
          <p:cNvSpPr txBox="1"/>
          <p:nvPr/>
        </p:nvSpPr>
        <p:spPr>
          <a:xfrm>
            <a:off x="457200" y="4594860"/>
            <a:ext cx="82296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Ross Reedstrom  - Text to Speech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4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WaveNet</a:t>
            </a:r>
            <a:endParaRPr/>
          </a:p>
        </p:txBody>
      </p:sp>
      <p:sp>
        <p:nvSpPr>
          <p:cNvPr id="194" name="Google Shape;194;p34"/>
          <p:cNvSpPr txBox="1"/>
          <p:nvPr>
            <p:ph idx="1" type="body"/>
          </p:nvPr>
        </p:nvSpPr>
        <p:spPr>
          <a:xfrm>
            <a:off x="608700" y="1207725"/>
            <a:ext cx="3090600" cy="20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" sz="2400"/>
              <a:t>A CNN with special features for dealing with temporal data, i.e. audio (waveform)</a:t>
            </a:r>
            <a:endParaRPr sz="2400"/>
          </a:p>
          <a:p>
            <a:pPr indent="0" lvl="0" marL="3429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34"/>
          <p:cNvSpPr txBox="1"/>
          <p:nvPr/>
        </p:nvSpPr>
        <p:spPr>
          <a:xfrm>
            <a:off x="457200" y="4594860"/>
            <a:ext cx="82296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Ross Reedstrom  - Text to Speech</a:t>
            </a:r>
            <a:endParaRPr/>
          </a:p>
        </p:txBody>
      </p:sp>
      <p:pic>
        <p:nvPicPr>
          <p:cNvPr id="196" name="Google Shape;19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04275" y="1169275"/>
            <a:ext cx="5765325" cy="215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34"/>
          <p:cNvSpPr txBox="1"/>
          <p:nvPr/>
        </p:nvSpPr>
        <p:spPr>
          <a:xfrm>
            <a:off x="608700" y="3428200"/>
            <a:ext cx="8188500" cy="8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342900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" sz="2400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https://deepmind.google/blog/wavenet-a-generative-model-for-raw-audio/</a:t>
            </a:r>
            <a:endParaRPr sz="2400">
              <a:solidFill>
                <a:schemeClr val="dk2"/>
              </a:solidFill>
            </a:endParaRPr>
          </a:p>
          <a:p>
            <a:pPr indent="0" lvl="0" marL="342900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" sz="2400" u="sng">
                <a:solidFill>
                  <a:schemeClr val="hlink"/>
                </a:solidFill>
                <a:hlinkClick r:id="rId5"/>
              </a:rPr>
              <a:t>https://arxiv.org/pdf/1609.03499</a:t>
            </a:r>
            <a:r>
              <a:rPr lang="en" sz="2400">
                <a:solidFill>
                  <a:schemeClr val="dk2"/>
                </a:solidFill>
              </a:rPr>
              <a:t> (2016)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5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Tacotron / Tacotron 2</a:t>
            </a:r>
            <a:endParaRPr/>
          </a:p>
        </p:txBody>
      </p:sp>
      <p:sp>
        <p:nvSpPr>
          <p:cNvPr id="203" name="Google Shape;203;p35"/>
          <p:cNvSpPr txBox="1"/>
          <p:nvPr>
            <p:ph idx="1" type="body"/>
          </p:nvPr>
        </p:nvSpPr>
        <p:spPr>
          <a:xfrm>
            <a:off x="457200" y="1200150"/>
            <a:ext cx="2893500" cy="23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seq2seq NN with attention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T2: change out the target generation and vocoder (wavenet)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480"/>
              </a:spcBef>
              <a:spcAft>
                <a:spcPts val="120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204" name="Google Shape;204;p35"/>
          <p:cNvSpPr txBox="1"/>
          <p:nvPr/>
        </p:nvSpPr>
        <p:spPr>
          <a:xfrm>
            <a:off x="457200" y="4594860"/>
            <a:ext cx="82296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Ross Reedstrom  - Text to Speech</a:t>
            </a:r>
            <a:endParaRPr/>
          </a:p>
        </p:txBody>
      </p:sp>
      <p:pic>
        <p:nvPicPr>
          <p:cNvPr id="205" name="Google Shape;20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40923" y="917823"/>
            <a:ext cx="5245875" cy="303385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35"/>
          <p:cNvSpPr txBox="1"/>
          <p:nvPr/>
        </p:nvSpPr>
        <p:spPr>
          <a:xfrm>
            <a:off x="828200" y="3981975"/>
            <a:ext cx="6855600" cy="6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https://arxiv.org/pdf/1703.10135</a:t>
            </a:r>
            <a:r>
              <a:rPr lang="en"/>
              <a:t> (2017)  </a:t>
            </a:r>
            <a:r>
              <a:rPr lang="en" u="sng">
                <a:solidFill>
                  <a:schemeClr val="hlink"/>
                </a:solidFill>
                <a:hlinkClick r:id="rId5"/>
              </a:rPr>
              <a:t>https://arxiv.org/pdf/1712.05884</a:t>
            </a:r>
            <a:r>
              <a:rPr lang="en">
                <a:solidFill>
                  <a:schemeClr val="dk2"/>
                </a:solidFill>
              </a:rPr>
              <a:t> (2018)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80"/>
              </a:spcBef>
              <a:spcAft>
                <a:spcPts val="12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6"/>
              </a:rPr>
              <a:t>https://google.github.io/tacotron/publications/tacotron2/index.html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6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VITS</a:t>
            </a:r>
            <a:endParaRPr/>
          </a:p>
        </p:txBody>
      </p:sp>
      <p:sp>
        <p:nvSpPr>
          <p:cNvPr id="212" name="Google Shape;212;p36"/>
          <p:cNvSpPr txBox="1"/>
          <p:nvPr>
            <p:ph idx="1" type="body"/>
          </p:nvPr>
        </p:nvSpPr>
        <p:spPr>
          <a:xfrm>
            <a:off x="320825" y="4139775"/>
            <a:ext cx="8229600" cy="4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1200"/>
              </a:spcAft>
              <a:buNone/>
            </a:pPr>
            <a:r>
              <a:rPr lang="en" sz="1400"/>
              <a:t>VITS samples </a:t>
            </a:r>
            <a:r>
              <a:rPr lang="en" sz="1400" u="sng">
                <a:solidFill>
                  <a:schemeClr val="hlink"/>
                </a:solidFill>
                <a:hlinkClick r:id="rId3"/>
              </a:rPr>
              <a:t>https://jaywalnut310.github.io/vits/</a:t>
            </a:r>
            <a:r>
              <a:rPr lang="en" sz="1400"/>
              <a:t>     </a:t>
            </a:r>
            <a:r>
              <a:rPr lang="en" sz="1400" u="sng">
                <a:solidFill>
                  <a:schemeClr val="hlink"/>
                </a:solidFill>
                <a:hlinkClick r:id="rId4"/>
              </a:rPr>
              <a:t>https://arxiv.org/pdf/2106.06103</a:t>
            </a:r>
            <a:r>
              <a:rPr lang="en" sz="1400"/>
              <a:t> (2021)</a:t>
            </a:r>
            <a:endParaRPr sz="1400"/>
          </a:p>
        </p:txBody>
      </p:sp>
      <p:sp>
        <p:nvSpPr>
          <p:cNvPr id="213" name="Google Shape;213;p36"/>
          <p:cNvSpPr txBox="1"/>
          <p:nvPr/>
        </p:nvSpPr>
        <p:spPr>
          <a:xfrm>
            <a:off x="457200" y="4594860"/>
            <a:ext cx="82296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Ross Reedstrom  - Text to Speech</a:t>
            </a:r>
            <a:endParaRPr/>
          </a:p>
        </p:txBody>
      </p:sp>
      <p:pic>
        <p:nvPicPr>
          <p:cNvPr id="214" name="Google Shape;214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08947" y="899822"/>
            <a:ext cx="6177850" cy="3121675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36"/>
          <p:cNvSpPr txBox="1"/>
          <p:nvPr/>
        </p:nvSpPr>
        <p:spPr>
          <a:xfrm>
            <a:off x="600950" y="1383725"/>
            <a:ext cx="1848300" cy="10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Variational inference + normalizing flows + GAN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Fast, lightweight inference (ONNX)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7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Piper Overview</a:t>
            </a:r>
            <a:endParaRPr/>
          </a:p>
        </p:txBody>
      </p:sp>
      <p:sp>
        <p:nvSpPr>
          <p:cNvPr id="221" name="Google Shape;221;p37"/>
          <p:cNvSpPr txBox="1"/>
          <p:nvPr>
            <p:ph idx="1" type="body"/>
          </p:nvPr>
        </p:nvSpPr>
        <p:spPr>
          <a:xfrm>
            <a:off x="86025" y="1200350"/>
            <a:ext cx="4173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861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400"/>
              <a:t>An </a:t>
            </a:r>
            <a:r>
              <a:rPr lang="en" sz="2400"/>
              <a:t>implementation</a:t>
            </a:r>
            <a:r>
              <a:rPr lang="en" sz="2400"/>
              <a:t> of VITS </a:t>
            </a:r>
            <a:r>
              <a:rPr lang="en" sz="2400"/>
              <a:t>targeting</a:t>
            </a:r>
            <a:r>
              <a:rPr lang="en" sz="2400"/>
              <a:t> self hosting and home automation systems</a:t>
            </a:r>
            <a:endParaRPr sz="2400"/>
          </a:p>
          <a:p>
            <a:pPr indent="-30861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400"/>
              <a:t>Piper repo → </a:t>
            </a:r>
            <a:r>
              <a:rPr lang="en" sz="2400" u="sng">
                <a:solidFill>
                  <a:schemeClr val="hlink"/>
                </a:solidFill>
                <a:hlinkClick r:id="rId3"/>
              </a:rPr>
              <a:t>https://github.com/OHF-Voice/piper1-gpl</a:t>
            </a:r>
            <a:endParaRPr/>
          </a:p>
          <a:p>
            <a:pPr indent="-30861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400"/>
              <a:t>Sample voices → </a:t>
            </a:r>
            <a:r>
              <a:rPr lang="en" sz="2400" u="sng">
                <a:solidFill>
                  <a:schemeClr val="hlink"/>
                </a:solidFill>
                <a:hlinkClick r:id="rId4"/>
              </a:rPr>
              <a:t>https://rhasspy.github.io/piper-samples/</a:t>
            </a:r>
            <a:endParaRPr/>
          </a:p>
          <a:p>
            <a:pPr indent="0" lvl="0" marL="342900" rtl="0" algn="l">
              <a:spcBef>
                <a:spcPts val="48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37"/>
          <p:cNvSpPr txBox="1"/>
          <p:nvPr/>
        </p:nvSpPr>
        <p:spPr>
          <a:xfrm>
            <a:off x="457200" y="4594860"/>
            <a:ext cx="82296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Ross Reedstrom  - Text to Speech</a:t>
            </a:r>
            <a:endParaRPr/>
          </a:p>
        </p:txBody>
      </p:sp>
      <p:pic>
        <p:nvPicPr>
          <p:cNvPr id="223" name="Google Shape;223;p37" title="log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88900" y="1396800"/>
            <a:ext cx="4438650" cy="156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8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 Aside</a:t>
            </a:r>
            <a:endParaRPr/>
          </a:p>
        </p:txBody>
      </p:sp>
      <p:sp>
        <p:nvSpPr>
          <p:cNvPr id="229" name="Google Shape;229;p38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/>
              <a:t>TTS is a small fraction of AI work in speech, let alone audio. Many speech as input uses:</a:t>
            </a:r>
            <a:endParaRPr/>
          </a:p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Automated Speech Recognition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Speaker modeling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Voice commands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9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ASR: Speech Recognition</a:t>
            </a:r>
            <a:endParaRPr/>
          </a:p>
        </p:txBody>
      </p:sp>
      <p:sp>
        <p:nvSpPr>
          <p:cNvPr id="235" name="Google Shape;235;p39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HMM-GMM → CTC → Transformers (Whisper, wav2vec2)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Applications: captioning, dictation, translation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0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Speaker Modeling</a:t>
            </a:r>
            <a:endParaRPr/>
          </a:p>
        </p:txBody>
      </p:sp>
      <p:sp>
        <p:nvSpPr>
          <p:cNvPr id="241" name="Google Shape;241;p40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Identification (closed set) vs verification (metric learning)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Embeddings: i‑vector, x‑vector, ECAPA‑TDNN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1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Wake Words &amp; Voice Commands</a:t>
            </a:r>
            <a:endParaRPr/>
          </a:p>
        </p:txBody>
      </p:sp>
      <p:sp>
        <p:nvSpPr>
          <p:cNvPr id="247" name="Google Shape;247;p41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Keyword spotting on microcontrollers (OpenWakeWord)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Small CNN/CRNN models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Intent detection pipelines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2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Piper &amp; Voice Retraining</a:t>
            </a:r>
            <a:endParaRPr/>
          </a:p>
        </p:txBody>
      </p:sp>
      <p:sp>
        <p:nvSpPr>
          <p:cNvPr id="253" name="Google Shape;253;p42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42"/>
          <p:cNvSpPr txBox="1"/>
          <p:nvPr/>
        </p:nvSpPr>
        <p:spPr>
          <a:xfrm>
            <a:off x="457200" y="4594860"/>
            <a:ext cx="82296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Ross Reedstrom  - Text to Speech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Piper Retraining Workflow</a:t>
            </a:r>
            <a:endParaRPr/>
          </a:p>
        </p:txBody>
      </p:sp>
      <p:sp>
        <p:nvSpPr>
          <p:cNvPr id="260" name="Google Shape;260;p43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Dataset → alignment → mel targets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Speaker embedding selection (e.g., ECAPA similarity, best guess)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Fine‑tuning VITS components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Export ONNX for deployment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4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Datasets</a:t>
            </a:r>
            <a:endParaRPr/>
          </a:p>
        </p:txBody>
      </p:sp>
      <p:sp>
        <p:nvSpPr>
          <p:cNvPr id="266" name="Google Shape;266;p44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62500" lnSpcReduction="10000"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0037" lvl="0" marL="457200" rtl="0" algn="l">
              <a:spcBef>
                <a:spcPts val="360"/>
              </a:spcBef>
              <a:spcAft>
                <a:spcPts val="0"/>
              </a:spcAft>
              <a:buSzPct val="56250"/>
              <a:buChar char="•"/>
            </a:pPr>
            <a:r>
              <a:rPr lang="en"/>
              <a:t>Samples of speech with </a:t>
            </a:r>
            <a:r>
              <a:rPr lang="en"/>
              <a:t>transcripts</a:t>
            </a:r>
            <a:r>
              <a:rPr lang="en"/>
              <a:t> (“utterances”)</a:t>
            </a:r>
            <a:endParaRPr/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56250"/>
              <a:buChar char="•"/>
            </a:pPr>
            <a:r>
              <a:rPr lang="en"/>
              <a:t>Need to be short (3-10 sec)</a:t>
            </a:r>
            <a:endParaRPr/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56250"/>
              <a:buChar char="•"/>
            </a:pPr>
            <a:r>
              <a:rPr lang="en"/>
              <a:t>Accurate transcripts</a:t>
            </a:r>
            <a:endParaRPr/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56250"/>
              <a:buChar char="•"/>
            </a:pPr>
            <a:r>
              <a:rPr lang="en"/>
              <a:t>High quality records, with little or no background noise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0037" lvl="0" marL="457200" rtl="0" algn="l">
              <a:spcBef>
                <a:spcPts val="360"/>
              </a:spcBef>
              <a:spcAft>
                <a:spcPts val="0"/>
              </a:spcAft>
              <a:buSzPct val="56250"/>
              <a:buChar char="•"/>
            </a:pPr>
            <a:r>
              <a:rPr lang="en"/>
              <a:t>We can provide one</a:t>
            </a:r>
            <a:endParaRPr/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56250"/>
              <a:buChar char="•"/>
            </a:pPr>
            <a:r>
              <a:rPr lang="en"/>
              <a:t>Create your own - Piper Recording Studio</a:t>
            </a:r>
            <a:endParaRPr/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56250"/>
              <a:buChar char="•"/>
            </a:pPr>
            <a:r>
              <a:rPr lang="en"/>
              <a:t>Published </a:t>
            </a:r>
            <a:r>
              <a:rPr lang="en"/>
              <a:t>audio with transcripts (cut down - be careful about licenses)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</a:t>
            </a:r>
            <a:r>
              <a:rPr lang="en"/>
              <a:t>training</a:t>
            </a:r>
            <a:r>
              <a:rPr lang="en"/>
              <a:t> notebook	</a:t>
            </a:r>
            <a:endParaRPr/>
          </a:p>
        </p:txBody>
      </p:sp>
      <p:sp>
        <p:nvSpPr>
          <p:cNvPr id="272" name="Google Shape;272;p45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/>
              <a:t>piper_train.ipynb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